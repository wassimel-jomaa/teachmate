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 snapToObjects="1">
      <p:cViewPr varScale="1">
        <p:scale>
          <a:sx n="108" d="100"/>
          <a:sy n="108" d="100"/>
        </p:scale>
        <p:origin x="1686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EduMate – AI-drivet system för bedömning och feedback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Projektredovisning</a:t>
            </a:r>
            <a:r>
              <a:rPr dirty="0"/>
              <a:t> – </a:t>
            </a:r>
            <a:r>
              <a:rPr dirty="0" err="1"/>
              <a:t>Teknikhögskolan</a:t>
            </a:r>
            <a:r>
              <a:rPr dirty="0"/>
              <a:t> 2025</a:t>
            </a:r>
          </a:p>
          <a:p>
            <a:r>
              <a:rPr dirty="0" err="1"/>
              <a:t>Utvecklad</a:t>
            </a:r>
            <a:r>
              <a:rPr dirty="0"/>
              <a:t> av: </a:t>
            </a:r>
            <a:r>
              <a:rPr lang="sv-SE" dirty="0"/>
              <a:t>Wasim El-</a:t>
            </a:r>
            <a:r>
              <a:rPr lang="sv-SE" dirty="0" err="1"/>
              <a:t>jomaa</a:t>
            </a:r>
            <a:endParaRPr dirty="0"/>
          </a:p>
          <a:p>
            <a:endParaRPr dirty="0"/>
          </a:p>
          <a:p>
            <a:r>
              <a:rPr dirty="0" err="1"/>
              <a:t>Syfte</a:t>
            </a:r>
            <a:r>
              <a:rPr dirty="0"/>
              <a:t>: </a:t>
            </a:r>
            <a:r>
              <a:rPr dirty="0" err="1"/>
              <a:t>Automatisera</a:t>
            </a:r>
            <a:r>
              <a:rPr dirty="0"/>
              <a:t> </a:t>
            </a:r>
            <a:r>
              <a:rPr dirty="0" err="1"/>
              <a:t>bedömning</a:t>
            </a:r>
            <a:r>
              <a:rPr dirty="0"/>
              <a:t> </a:t>
            </a:r>
            <a:r>
              <a:rPr dirty="0" err="1"/>
              <a:t>och</a:t>
            </a:r>
            <a:r>
              <a:rPr dirty="0"/>
              <a:t> feedback med AI </a:t>
            </a:r>
            <a:r>
              <a:rPr dirty="0" err="1"/>
              <a:t>och</a:t>
            </a:r>
            <a:r>
              <a:rPr dirty="0"/>
              <a:t> </a:t>
            </a:r>
            <a:r>
              <a:rPr dirty="0" err="1"/>
              <a:t>maskininlärning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1️⃣ Problembeskrivning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Lärare spenderar mycket tid på rättning och feedback.</a:t>
            </a:r>
          </a:p>
          <a:p>
            <a:r>
              <a:t>Elever får vänta länge på återkoppling.</a:t>
            </a:r>
          </a:p>
          <a:p>
            <a:r>
              <a:t>Svårt att ge individuell återkoppling till alla elever.</a:t>
            </a:r>
          </a:p>
          <a:p>
            <a:r>
              <a:t>Behov: Ett AI-system som snabbt analyserar svar och ger direkt feedback.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2️⃣ Lösningen – EduMate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AI-baserat backend-system byggt med FastAPI.</a:t>
            </a:r>
          </a:p>
          <a:p>
            <a:r>
              <a:t>Analyserar text och beräknar resonemang, tydlighet och metodval.</a:t>
            </a:r>
          </a:p>
          <a:p>
            <a:r>
              <a:t>Förutsäger betyg (A–F) med Random Forest.</a:t>
            </a:r>
          </a:p>
          <a:p>
            <a:r>
              <a:t>Genererar lärarlik feedback på svenska.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3️⃣ Systemarkitektur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Backend: </a:t>
            </a:r>
            <a:r>
              <a:rPr dirty="0" err="1"/>
              <a:t>FastAPI</a:t>
            </a:r>
            <a:endParaRPr dirty="0"/>
          </a:p>
          <a:p>
            <a:r>
              <a:rPr dirty="0" err="1"/>
              <a:t>Databas</a:t>
            </a:r>
            <a:r>
              <a:rPr dirty="0"/>
              <a:t>: </a:t>
            </a:r>
            <a:r>
              <a:rPr dirty="0" err="1"/>
              <a:t>SQLAlchemy</a:t>
            </a:r>
            <a:r>
              <a:rPr dirty="0"/>
              <a:t> + SQLite</a:t>
            </a:r>
          </a:p>
          <a:p>
            <a:r>
              <a:rPr dirty="0"/>
              <a:t>ML-</a:t>
            </a:r>
            <a:r>
              <a:rPr dirty="0" err="1"/>
              <a:t>modell</a:t>
            </a:r>
            <a:r>
              <a:rPr dirty="0"/>
              <a:t>: Random Forest</a:t>
            </a:r>
          </a:p>
          <a:p>
            <a:r>
              <a:rPr dirty="0"/>
              <a:t>NLP: TF-IDF + Cosine Similarity</a:t>
            </a:r>
          </a:p>
          <a:p>
            <a:r>
              <a:rPr dirty="0" err="1"/>
              <a:t>Autentisering</a:t>
            </a:r>
            <a:r>
              <a:rPr dirty="0"/>
              <a:t>: JWT Tokens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4️⃣ Maskininlärning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Dataset: klass9_matte_inlamningar_dataset.csv</a:t>
            </a:r>
          </a:p>
          <a:p>
            <a:r>
              <a:rPr dirty="0"/>
              <a:t>Modell: Random Forest för </a:t>
            </a:r>
            <a:r>
              <a:rPr dirty="0" err="1"/>
              <a:t>betygsprognos</a:t>
            </a:r>
            <a:r>
              <a:rPr dirty="0"/>
              <a:t>.</a:t>
            </a:r>
          </a:p>
          <a:p>
            <a:r>
              <a:rPr dirty="0" err="1"/>
              <a:t>Textanalys</a:t>
            </a:r>
            <a:r>
              <a:rPr dirty="0"/>
              <a:t> med TF-IDF för </a:t>
            </a:r>
            <a:r>
              <a:rPr dirty="0" err="1"/>
              <a:t>att</a:t>
            </a:r>
            <a:r>
              <a:rPr dirty="0"/>
              <a:t> </a:t>
            </a:r>
            <a:r>
              <a:rPr dirty="0" err="1"/>
              <a:t>välja</a:t>
            </a:r>
            <a:r>
              <a:rPr dirty="0"/>
              <a:t> relevant feedback.</a:t>
            </a:r>
          </a:p>
          <a:p>
            <a:r>
              <a:rPr dirty="0" err="1"/>
              <a:t>Tränad</a:t>
            </a:r>
            <a:r>
              <a:rPr dirty="0"/>
              <a:t> </a:t>
            </a:r>
            <a:r>
              <a:rPr dirty="0" err="1"/>
              <a:t>på</a:t>
            </a:r>
            <a:r>
              <a:rPr dirty="0"/>
              <a:t> </a:t>
            </a:r>
            <a:r>
              <a:rPr dirty="0" err="1"/>
              <a:t>elevsvar</a:t>
            </a:r>
            <a:r>
              <a:rPr dirty="0"/>
              <a:t>, </a:t>
            </a:r>
            <a:r>
              <a:rPr dirty="0" err="1"/>
              <a:t>lärarkommentarer</a:t>
            </a:r>
            <a:r>
              <a:rPr dirty="0"/>
              <a:t> </a:t>
            </a:r>
            <a:r>
              <a:rPr dirty="0" err="1"/>
              <a:t>och</a:t>
            </a:r>
            <a:r>
              <a:rPr dirty="0"/>
              <a:t> </a:t>
            </a:r>
            <a:r>
              <a:rPr dirty="0" err="1"/>
              <a:t>betyg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5️⃣ Demoexempel – AI-feedback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endParaRPr dirty="0"/>
              </a:p>
              <a:p>
                <a:r>
                  <a:rPr sz="1400" dirty="0" err="1">
                    <a:solidFill>
                      <a:srgbClr val="006400"/>
                    </a:solidFill>
                    <a:latin typeface="Courier New"/>
                  </a:rPr>
                  <a:t>Uppgift</a:t>
                </a:r>
                <a:r>
                  <a:rPr sz="1400" dirty="0">
                    <a:solidFill>
                      <a:srgbClr val="006400"/>
                    </a:solidFill>
                    <a:latin typeface="Courier New"/>
                  </a:rPr>
                  <a:t>: "</a:t>
                </a:r>
                <a:r>
                  <a:rPr lang="sv-SE" sz="1400" dirty="0"/>
                  <a:t>Lös ekvationen:</a:t>
                </a:r>
              </a:p>
              <a:p>
                <a14:m>
                  <m:oMath xmlns:m="http://schemas.openxmlformats.org/officeDocument/2006/math">
                    <m:r>
                      <a:rPr lang="sv-SE">
                        <a:latin typeface="Cambria Math" panose="02040503050406030204" pitchFamily="18" charset="0"/>
                      </a:rPr>
                      <m:t>3</m:t>
                    </m:r>
                    <m:r>
                      <a:rPr lang="sv-SE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sv-SE">
                        <a:latin typeface="Cambria Math" panose="02040503050406030204" pitchFamily="18" charset="0"/>
                      </a:rPr>
                      <m:t>+</m:t>
                    </m:r>
                    <m:r>
                      <a:rPr lang="sv-SE">
                        <a:latin typeface="Cambria Math" panose="02040503050406030204" pitchFamily="18" charset="0"/>
                      </a:rPr>
                      <m:t>5</m:t>
                    </m:r>
                    <m:r>
                      <a:rPr lang="sv-SE">
                        <a:latin typeface="Cambria Math" panose="02040503050406030204" pitchFamily="18" charset="0"/>
                      </a:rPr>
                      <m:t>=</m:t>
                    </m:r>
                    <m:r>
                      <a:rPr lang="sv-SE">
                        <a:latin typeface="Cambria Math" panose="02040503050406030204" pitchFamily="18" charset="0"/>
                      </a:rPr>
                      <m:t>2</m:t>
                    </m:r>
                    <m:r>
                      <a:rPr lang="sv-SE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sv-SE">
                        <a:latin typeface="Cambria Math" panose="02040503050406030204" pitchFamily="18" charset="0"/>
                      </a:rPr>
                      <m:t>+</m:t>
                    </m:r>
                    <m:r>
                      <a:rPr lang="sv-SE">
                        <a:latin typeface="Cambria Math" panose="02040503050406030204" pitchFamily="18" charset="0"/>
                      </a:rPr>
                      <m:t>9</m:t>
                    </m:r>
                  </m:oMath>
                </a14:m>
                <a:endParaRPr lang="sv-SE" sz="1400" dirty="0"/>
              </a:p>
              <a:p>
                <a:r>
                  <a:rPr sz="1400" dirty="0">
                    <a:solidFill>
                      <a:srgbClr val="006400"/>
                    </a:solidFill>
                    <a:latin typeface="Courier New"/>
                  </a:rPr>
                  <a:t>?"
Elevsvar:
"</a:t>
                </a:r>
                <a:r>
                  <a:rPr lang="sv-SE" sz="1400" dirty="0"/>
                  <a:t>Flyttar över x: 3x−2x=9−5 ⇒ x=4.</a:t>
                </a:r>
                <a:r>
                  <a:rPr sz="1400" dirty="0">
                    <a:solidFill>
                      <a:srgbClr val="006400"/>
                    </a:solidFill>
                    <a:latin typeface="Courier New"/>
                  </a:rPr>
                  <a:t>"
AI-feedback:
</a:t>
                </a:r>
                <a:r>
                  <a:rPr sz="1400" dirty="0" err="1">
                    <a:solidFill>
                      <a:srgbClr val="006400"/>
                    </a:solidFill>
                    <a:latin typeface="Courier New"/>
                  </a:rPr>
                  <a:t>Predicerat</a:t>
                </a:r>
                <a:r>
                  <a:rPr sz="1400" dirty="0">
                    <a:solidFill>
                      <a:srgbClr val="006400"/>
                    </a:solidFill>
                    <a:latin typeface="Courier New"/>
                  </a:rPr>
                  <a:t> </a:t>
                </a:r>
                <a:r>
                  <a:rPr sz="1400" dirty="0" err="1">
                    <a:solidFill>
                      <a:srgbClr val="006400"/>
                    </a:solidFill>
                    <a:latin typeface="Courier New"/>
                  </a:rPr>
                  <a:t>betyg</a:t>
                </a:r>
                <a:r>
                  <a:rPr sz="1400" dirty="0">
                    <a:solidFill>
                      <a:srgbClr val="006400"/>
                    </a:solidFill>
                    <a:latin typeface="Courier New"/>
                  </a:rPr>
                  <a:t>: </a:t>
                </a:r>
                <a:r>
                  <a:rPr lang="sv-SE" sz="1400" dirty="0">
                    <a:solidFill>
                      <a:srgbClr val="006400"/>
                    </a:solidFill>
                    <a:latin typeface="Courier New"/>
                  </a:rPr>
                  <a:t>A</a:t>
                </a:r>
                <a:r>
                  <a:rPr sz="1400" dirty="0">
                    <a:solidFill>
                      <a:srgbClr val="006400"/>
                    </a:solidFill>
                    <a:latin typeface="Courier New"/>
                  </a:rPr>
                  <a:t>
</a:t>
                </a:r>
                <a:r>
                  <a:rPr sz="1400" dirty="0" err="1">
                    <a:solidFill>
                      <a:srgbClr val="006400"/>
                    </a:solidFill>
                    <a:latin typeface="Courier New"/>
                  </a:rPr>
                  <a:t>Rubricpoäng</a:t>
                </a:r>
                <a:r>
                  <a:rPr sz="1400" dirty="0">
                    <a:solidFill>
                      <a:srgbClr val="006400"/>
                    </a:solidFill>
                    <a:latin typeface="Courier New"/>
                  </a:rPr>
                  <a:t>: </a:t>
                </a:r>
                <a:r>
                  <a:rPr lang="sv-SE" sz="1400" dirty="0">
                    <a:solidFill>
                      <a:srgbClr val="006400"/>
                    </a:solidFill>
                    <a:latin typeface="Courier New"/>
                  </a:rPr>
                  <a:t>90</a:t>
                </a:r>
                <a:r>
                  <a:rPr sz="1400" dirty="0">
                    <a:solidFill>
                      <a:srgbClr val="006400"/>
                    </a:solidFill>
                    <a:latin typeface="Courier New"/>
                  </a:rPr>
                  <a:t> / 100
"</a:t>
                </a:r>
                <a:r>
                  <a:rPr sz="1400" dirty="0" err="1">
                    <a:solidFill>
                      <a:srgbClr val="006400"/>
                    </a:solidFill>
                    <a:latin typeface="Courier New"/>
                  </a:rPr>
                  <a:t>Utmärkt</a:t>
                </a:r>
                <a:r>
                  <a:rPr sz="1400" dirty="0">
                    <a:solidFill>
                      <a:srgbClr val="006400"/>
                    </a:solidFill>
                    <a:latin typeface="Courier New"/>
                  </a:rPr>
                  <a:t> </a:t>
                </a:r>
                <a:r>
                  <a:rPr sz="1400" dirty="0" err="1">
                    <a:solidFill>
                      <a:srgbClr val="006400"/>
                    </a:solidFill>
                    <a:latin typeface="Courier New"/>
                  </a:rPr>
                  <a:t>arbete</a:t>
                </a:r>
                <a:r>
                  <a:rPr sz="1400" dirty="0">
                    <a:solidFill>
                      <a:srgbClr val="006400"/>
                    </a:solidFill>
                    <a:latin typeface="Courier New"/>
                  </a:rPr>
                  <a:t>! Du </a:t>
                </a:r>
                <a:r>
                  <a:rPr sz="1400" dirty="0" err="1">
                    <a:solidFill>
                      <a:srgbClr val="006400"/>
                    </a:solidFill>
                    <a:latin typeface="Courier New"/>
                  </a:rPr>
                  <a:t>använder</a:t>
                </a:r>
                <a:r>
                  <a:rPr sz="1400" dirty="0">
                    <a:solidFill>
                      <a:srgbClr val="006400"/>
                    </a:solidFill>
                    <a:latin typeface="Courier New"/>
                  </a:rPr>
                  <a:t> </a:t>
                </a:r>
                <a:r>
                  <a:rPr sz="1400" dirty="0" err="1">
                    <a:solidFill>
                      <a:srgbClr val="006400"/>
                    </a:solidFill>
                    <a:latin typeface="Courier New"/>
                  </a:rPr>
                  <a:t>korrekt</a:t>
                </a:r>
                <a:r>
                  <a:rPr sz="1400" dirty="0">
                    <a:solidFill>
                      <a:srgbClr val="006400"/>
                    </a:solidFill>
                    <a:latin typeface="Courier New"/>
                  </a:rPr>
                  <a:t> </a:t>
                </a:r>
                <a:r>
                  <a:rPr sz="1400" dirty="0" err="1">
                    <a:solidFill>
                      <a:srgbClr val="006400"/>
                    </a:solidFill>
                    <a:latin typeface="Courier New"/>
                  </a:rPr>
                  <a:t>formel</a:t>
                </a:r>
                <a:r>
                  <a:rPr sz="1400" dirty="0">
                    <a:solidFill>
                      <a:srgbClr val="006400"/>
                    </a:solidFill>
                    <a:latin typeface="Courier New"/>
                  </a:rPr>
                  <a:t> </a:t>
                </a:r>
                <a:r>
                  <a:rPr sz="1400" dirty="0" err="1">
                    <a:solidFill>
                      <a:srgbClr val="006400"/>
                    </a:solidFill>
                    <a:latin typeface="Courier New"/>
                  </a:rPr>
                  <a:t>och</a:t>
                </a:r>
                <a:r>
                  <a:rPr sz="1400" dirty="0">
                    <a:solidFill>
                      <a:srgbClr val="006400"/>
                    </a:solidFill>
                    <a:latin typeface="Courier New"/>
                  </a:rPr>
                  <a:t> </a:t>
                </a:r>
                <a:r>
                  <a:rPr sz="1400" dirty="0" err="1">
                    <a:solidFill>
                      <a:srgbClr val="006400"/>
                    </a:solidFill>
                    <a:latin typeface="Courier New"/>
                  </a:rPr>
                  <a:t>motiverar</a:t>
                </a:r>
                <a:r>
                  <a:rPr sz="1400" dirty="0">
                    <a:solidFill>
                      <a:srgbClr val="006400"/>
                    </a:solidFill>
                    <a:latin typeface="Courier New"/>
                  </a:rPr>
                  <a:t> </a:t>
                </a:r>
                <a:r>
                  <a:rPr sz="1400" dirty="0" err="1">
                    <a:solidFill>
                      <a:srgbClr val="006400"/>
                    </a:solidFill>
                    <a:latin typeface="Courier New"/>
                  </a:rPr>
                  <a:t>tydligt</a:t>
                </a:r>
                <a:r>
                  <a:rPr sz="1400" dirty="0">
                    <a:solidFill>
                      <a:srgbClr val="006400"/>
                    </a:solidFill>
                    <a:latin typeface="Courier New"/>
                  </a:rPr>
                  <a:t> </a:t>
                </a:r>
                <a:r>
                  <a:rPr sz="1400" dirty="0" err="1">
                    <a:solidFill>
                      <a:srgbClr val="006400"/>
                    </a:solidFill>
                    <a:latin typeface="Courier New"/>
                  </a:rPr>
                  <a:t>ditt</a:t>
                </a:r>
                <a:r>
                  <a:rPr sz="1400" dirty="0">
                    <a:solidFill>
                      <a:srgbClr val="006400"/>
                    </a:solidFill>
                    <a:latin typeface="Courier New"/>
                  </a:rPr>
                  <a:t> </a:t>
                </a:r>
                <a:r>
                  <a:rPr sz="1400" dirty="0" err="1">
                    <a:solidFill>
                      <a:srgbClr val="006400"/>
                    </a:solidFill>
                    <a:latin typeface="Courier New"/>
                  </a:rPr>
                  <a:t>svar</a:t>
                </a:r>
                <a:r>
                  <a:rPr sz="1400" dirty="0">
                    <a:solidFill>
                      <a:srgbClr val="006400"/>
                    </a:solidFill>
                    <a:latin typeface="Courier New"/>
                  </a:rPr>
                  <a:t>."
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4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6️⃣ Databasen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Homework_Submission – Elevens inlämning</a:t>
            </a:r>
          </a:p>
          <a:p>
            <a:r>
              <a:t>Scoring_Criteria – Beräknade värden (t.ex. resonemang, klarhet)</a:t>
            </a:r>
          </a:p>
          <a:p>
            <a:r>
              <a:t>AI_Score – Modellens betygsförslag</a:t>
            </a:r>
          </a:p>
          <a:p>
            <a:r>
              <a:t>AI_Feedback – Genererad feedbacktext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7️⃣ Resultat &amp; Framtida utveckling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✅ Fungerande backend-system</a:t>
            </a:r>
          </a:p>
          <a:p>
            <a:r>
              <a:t>✅ AI som förutsäger betyg korrekt</a:t>
            </a:r>
          </a:p>
          <a:p>
            <a:r>
              <a:t>✅ Automatisk generering av feedback</a:t>
            </a:r>
          </a:p>
          <a:p>
            <a:r>
              <a:t>Nästa steg: Större dataset, mer avancerade modeller (t.ex. BERT)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8️⃣ Slutsats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EduMate visar hur AI kan effektivisera bedömning och ge elever snabb, konstruktiv återkoppling.</a:t>
            </a:r>
          </a:p>
          <a:p>
            <a:endParaRPr/>
          </a:p>
          <a:p>
            <a:r>
              <a:t>En digital lärarassistent för framtidens klassrum.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207</TotalTime>
  <Words>332</Words>
  <Application>Microsoft Office PowerPoint</Application>
  <PresentationFormat>Bildspel på skärmen (4:3)</PresentationFormat>
  <Paragraphs>51</Paragraphs>
  <Slides>9</Slides>
  <Notes>0</Notes>
  <HiddenSlides>0</HiddenSlides>
  <MMClips>0</MMClips>
  <ScaleCrop>false</ScaleCrop>
  <HeadingPairs>
    <vt:vector size="6" baseType="variant">
      <vt:variant>
        <vt:lpstr>Använt teckensnitt</vt:lpstr>
      </vt:variant>
      <vt:variant>
        <vt:i4>4</vt:i4>
      </vt:variant>
      <vt:variant>
        <vt:lpstr>Tema</vt:lpstr>
      </vt:variant>
      <vt:variant>
        <vt:i4>1</vt:i4>
      </vt:variant>
      <vt:variant>
        <vt:lpstr>Bildrubriker</vt:lpstr>
      </vt:variant>
      <vt:variant>
        <vt:i4>9</vt:i4>
      </vt:variant>
    </vt:vector>
  </HeadingPairs>
  <TitlesOfParts>
    <vt:vector size="14" baseType="lpstr">
      <vt:lpstr>Arial</vt:lpstr>
      <vt:lpstr>Calibri</vt:lpstr>
      <vt:lpstr>Cambria Math</vt:lpstr>
      <vt:lpstr>Courier New</vt:lpstr>
      <vt:lpstr>Office Theme</vt:lpstr>
      <vt:lpstr>EduMate – AI-drivet system för bedömning och feedback</vt:lpstr>
      <vt:lpstr>1️⃣ Problembeskrivning</vt:lpstr>
      <vt:lpstr>2️⃣ Lösningen – EduMate</vt:lpstr>
      <vt:lpstr>3️⃣ Systemarkitektur</vt:lpstr>
      <vt:lpstr>4️⃣ Maskininlärning</vt:lpstr>
      <vt:lpstr>5️⃣ Demoexempel – AI-feedback</vt:lpstr>
      <vt:lpstr>6️⃣ Databasen</vt:lpstr>
      <vt:lpstr>7️⃣ Resultat &amp; Framtida utveckling</vt:lpstr>
      <vt:lpstr>8️⃣ Slutsats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Administration</dc:creator>
  <cp:keywords/>
  <dc:description>generated using python-pptx</dc:description>
  <cp:lastModifiedBy>Wasim</cp:lastModifiedBy>
  <cp:revision>2</cp:revision>
  <dcterms:created xsi:type="dcterms:W3CDTF">2013-01-27T09:14:16Z</dcterms:created>
  <dcterms:modified xsi:type="dcterms:W3CDTF">2025-10-17T09:49:14Z</dcterms:modified>
  <cp:category/>
</cp:coreProperties>
</file>